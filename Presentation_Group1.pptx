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6" r:id="rId6"/>
    <p:sldId id="260" r:id="rId7"/>
    <p:sldId id="265" r:id="rId8"/>
    <p:sldId id="261" r:id="rId9"/>
    <p:sldId id="262" r:id="rId10"/>
    <p:sldId id="263" r:id="rId11"/>
    <p:sldId id="267" r:id="rId12"/>
    <p:sldId id="272" r:id="rId13"/>
    <p:sldId id="264" r:id="rId14"/>
    <p:sldId id="275" r:id="rId15"/>
    <p:sldId id="269" r:id="rId16"/>
    <p:sldId id="270" r:id="rId17"/>
    <p:sldId id="271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8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13C81E-3EAF-4F9E-906B-78E93FFC67E7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D5299D-600C-40EE-A1EF-33089DF025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911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BDBC2-FD62-4393-B521-1B1617425BB8}" type="datetime1">
              <a:rPr lang="en-US" smtClean="0"/>
              <a:t>2025-12-09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05F1F-A983-41BE-AD15-88752DBEB0A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4237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0229E-3391-4EF2-AF7C-C8C35C2903FB}" type="datetime1">
              <a:rPr lang="en-US" smtClean="0"/>
              <a:t>2025-12-09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05F1F-A983-41BE-AD15-88752DBEB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930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DA22-6C4F-4E5F-9CE3-F67045C86D06}" type="datetime1">
              <a:rPr lang="en-US" smtClean="0"/>
              <a:t>2025-12-09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05F1F-A983-41BE-AD15-88752DBEB0A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3493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98A76-BC2F-4F5D-9810-F9499FEECE4B}" type="datetime1">
              <a:rPr lang="en-US" smtClean="0"/>
              <a:t>2025-12-09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05F1F-A983-41BE-AD15-88752DBEB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463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5BDE6-BFDE-4DFC-BA4A-A29BF5337793}" type="datetime1">
              <a:rPr lang="en-US" smtClean="0"/>
              <a:t>2025-12-09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05F1F-A983-41BE-AD15-88752DBEB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556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84AEF-0D09-4072-B8D8-8C68C60F07CC}" type="datetime1">
              <a:rPr lang="en-US" smtClean="0"/>
              <a:t>2025-12-09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05F1F-A983-41BE-AD15-88752DBEB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110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08AA5-52C7-4C15-B606-585893A418FE}" type="datetime1">
              <a:rPr lang="en-US" smtClean="0"/>
              <a:t>2025-12-09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05F1F-A983-41BE-AD15-88752DBEB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740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585356C-6B47-4C58-BDA9-599AAFDE208D}" type="datetime1">
              <a:rPr lang="en-US" smtClean="0"/>
              <a:t>2025-12-09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6A05F1F-A983-41BE-AD15-88752DBEB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661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CD92D-8878-448D-A310-A6728767FBDE}" type="datetime1">
              <a:rPr lang="en-US" smtClean="0"/>
              <a:t>2025-12-09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05F1F-A983-41BE-AD15-88752DBEB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851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01E7-2EEF-45F7-9135-44F85C020CF1}" type="datetime1">
              <a:rPr lang="en-US" smtClean="0"/>
              <a:t>2025-12-09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05F1F-A983-41BE-AD15-88752DBEB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855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EF8C5-9ED7-4FE9-84F0-BE726D06C30D}" type="datetime1">
              <a:rPr lang="en-US" smtClean="0"/>
              <a:t>2025-12-09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05F1F-A983-41BE-AD15-88752DBEB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618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7FF200E-F380-48D0-BA14-BAE9FDBCCF1F}" type="datetime1">
              <a:rPr lang="en-US" smtClean="0"/>
              <a:t>2025-12-09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6A05F1F-A983-41BE-AD15-88752DBEB0A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9050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-511048"/>
            <a:ext cx="10058400" cy="3566160"/>
          </a:xfrm>
        </p:spPr>
        <p:txBody>
          <a:bodyPr>
            <a:normAutofit/>
          </a:bodyPr>
          <a:lstStyle/>
          <a:p>
            <a:r>
              <a:rPr lang="en-CA" sz="4000" b="1" dirty="0"/>
              <a:t>Real Time Human Facial Emotion Recognition Using YOLO With Confidence and </a:t>
            </a:r>
            <a:r>
              <a:rPr lang="en-CA" sz="4000" b="1" dirty="0" err="1"/>
              <a:t>IoU</a:t>
            </a:r>
            <a:r>
              <a:rPr lang="en-CA" sz="4000" b="1" dirty="0"/>
              <a:t> Threshold Optimization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9680" y="4429615"/>
            <a:ext cx="9144000" cy="1655762"/>
          </a:xfrm>
        </p:spPr>
        <p:txBody>
          <a:bodyPr/>
          <a:lstStyle/>
          <a:p>
            <a:r>
              <a:rPr lang="en-US" cap="none" dirty="0"/>
              <a:t>Group1: Rahul Saini, Thuvarakan </a:t>
            </a:r>
            <a:r>
              <a:rPr lang="en-US" cap="none" dirty="0" err="1"/>
              <a:t>Mathipalan</a:t>
            </a:r>
            <a:r>
              <a:rPr lang="en-US" cap="none" dirty="0"/>
              <a:t>, Koti Reddy </a:t>
            </a:r>
            <a:r>
              <a:rPr lang="en-US" cap="none" dirty="0" err="1"/>
              <a:t>Kommireddy</a:t>
            </a:r>
            <a:r>
              <a:rPr lang="en-US" cap="none" dirty="0"/>
              <a:t>, Sri </a:t>
            </a:r>
            <a:r>
              <a:rPr lang="en-US" cap="none" dirty="0" err="1"/>
              <a:t>Sowharan</a:t>
            </a:r>
            <a:r>
              <a:rPr lang="en-US" cap="none" dirty="0"/>
              <a:t> Palanisamy Krishnamurthy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E69FE-5C1D-A4D0-02E2-3B482DF23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05F1F-A983-41BE-AD15-88752DBEB0A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7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921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89611"/>
            <a:ext cx="10515600" cy="43873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dirty="0"/>
              <a:t>Facial emotion recognition is essential for:</a:t>
            </a:r>
          </a:p>
          <a:p>
            <a:pPr lvl="1"/>
            <a:r>
              <a:rPr lang="en-GB" sz="2000" dirty="0"/>
              <a:t>Human Computer Interaction</a:t>
            </a:r>
          </a:p>
          <a:p>
            <a:pPr lvl="1"/>
            <a:r>
              <a:rPr lang="en-GB" sz="2000" dirty="0"/>
              <a:t>Security systems</a:t>
            </a:r>
          </a:p>
          <a:p>
            <a:pPr lvl="1"/>
            <a:r>
              <a:rPr lang="en-GB" sz="2000" dirty="0"/>
              <a:t>Mental health analysis</a:t>
            </a:r>
          </a:p>
          <a:p>
            <a:pPr lvl="1"/>
            <a:r>
              <a:rPr lang="en-GB" sz="2000" dirty="0"/>
              <a:t>Smart environments</a:t>
            </a:r>
          </a:p>
          <a:p>
            <a:pPr marL="0" indent="0">
              <a:buNone/>
            </a:pPr>
            <a:r>
              <a:rPr lang="en-GB" sz="2400" dirty="0"/>
              <a:t>Deep learning enables real time emotion detection</a:t>
            </a:r>
          </a:p>
          <a:p>
            <a:pPr lvl="1"/>
            <a:r>
              <a:rPr lang="en-GB" sz="2000" dirty="0"/>
              <a:t>YOLO is chosen for:</a:t>
            </a:r>
          </a:p>
          <a:p>
            <a:pPr lvl="2"/>
            <a:r>
              <a:rPr lang="en-GB" sz="1800" dirty="0"/>
              <a:t>High speed</a:t>
            </a:r>
          </a:p>
          <a:p>
            <a:pPr lvl="2"/>
            <a:r>
              <a:rPr lang="en-GB" sz="1800" dirty="0"/>
              <a:t>Strong detection accuracy</a:t>
            </a:r>
          </a:p>
          <a:p>
            <a:pPr marL="0" indent="0">
              <a:buNone/>
            </a:pPr>
            <a:r>
              <a:rPr lang="en-GB" sz="2400" dirty="0"/>
              <a:t>This project builds a real time facial emotion recognition system using YOLO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80541-D61A-7118-2CBF-1107A160B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05F1F-A983-41BE-AD15-88752DBEB0A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920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CA" dirty="0"/>
              <a:t> To detect human faces and classify basic emotions in real time using YOLO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CA" dirty="0"/>
              <a:t> To optimize YOLO performance by tuning confidence and </a:t>
            </a:r>
            <a:r>
              <a:rPr lang="en-CA" dirty="0" err="1"/>
              <a:t>IoU</a:t>
            </a:r>
            <a:r>
              <a:rPr lang="en-CA" dirty="0"/>
              <a:t> thresholds for improved detection stability and accuracy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CA" dirty="0"/>
              <a:t> To demonstrate the complete system through a real time webcam based facial emotion recognition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606C3B-BD54-CDAD-9624-E016BB3C6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05F1F-A983-41BE-AD15-88752DBEB0A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848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Prior research confirms the importance of:</a:t>
            </a:r>
          </a:p>
          <a:p>
            <a:pPr lvl="1"/>
            <a:r>
              <a:rPr lang="en-GB" dirty="0"/>
              <a:t>Reliable facial emotion recognition systems</a:t>
            </a:r>
          </a:p>
          <a:p>
            <a:pPr marL="0" indent="0">
              <a:buNone/>
            </a:pPr>
            <a:r>
              <a:rPr lang="en-GB" dirty="0"/>
              <a:t>YOLOv8 proven to:</a:t>
            </a:r>
          </a:p>
          <a:p>
            <a:pPr lvl="1"/>
            <a:r>
              <a:rPr lang="en-GB" dirty="0"/>
              <a:t>Improve real time detection speed</a:t>
            </a:r>
          </a:p>
          <a:p>
            <a:pPr lvl="1"/>
            <a:r>
              <a:rPr lang="en-GB" dirty="0"/>
              <a:t>Maintain high accuracy</a:t>
            </a:r>
          </a:p>
          <a:p>
            <a:pPr marL="0" indent="0">
              <a:buNone/>
            </a:pPr>
            <a:r>
              <a:rPr lang="en-GB" dirty="0"/>
              <a:t>Studies show:</a:t>
            </a:r>
          </a:p>
          <a:p>
            <a:pPr lvl="1"/>
            <a:r>
              <a:rPr lang="en-GB" dirty="0" err="1"/>
              <a:t>IoU</a:t>
            </a:r>
            <a:r>
              <a:rPr lang="en-GB" dirty="0"/>
              <a:t> &amp; confidence tuning improves detection quality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FFB0B-C27C-0D41-678F-46C2CE165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05F1F-A983-41BE-AD15-88752DBEB0A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808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Methodology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800" y="2053590"/>
            <a:ext cx="8374198" cy="386388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EBF50B-261C-A139-8873-18F864377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05F1F-A983-41BE-AD15-88752DBEB0A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661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(FER-2013)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Dataset: FER-2013 (from Kaggle)</a:t>
            </a:r>
          </a:p>
          <a:p>
            <a:r>
              <a:rPr lang="en-US" dirty="0"/>
              <a:t>35887 grayscale images</a:t>
            </a:r>
          </a:p>
          <a:p>
            <a:r>
              <a:rPr lang="en-US" dirty="0"/>
              <a:t>Image size: 48 × 48 pixels</a:t>
            </a:r>
          </a:p>
          <a:p>
            <a:r>
              <a:rPr lang="en-US" dirty="0"/>
              <a:t>7 emotion classes: </a:t>
            </a:r>
          </a:p>
          <a:p>
            <a:r>
              <a:rPr lang="en-US" dirty="0"/>
              <a:t>Angry, Disgust, Fear, Happy, </a:t>
            </a:r>
          </a:p>
          <a:p>
            <a:r>
              <a:rPr lang="en-US" dirty="0"/>
              <a:t>Neutral, Sad and Surprise </a:t>
            </a:r>
          </a:p>
          <a:p>
            <a:r>
              <a:rPr lang="en-US" dirty="0"/>
              <a:t>Data split:</a:t>
            </a:r>
          </a:p>
          <a:p>
            <a:pPr lvl="1"/>
            <a:r>
              <a:rPr lang="en-US" dirty="0"/>
              <a:t>80% Training</a:t>
            </a:r>
          </a:p>
          <a:p>
            <a:pPr lvl="1"/>
            <a:r>
              <a:rPr lang="en-US" dirty="0"/>
              <a:t>20% Testing</a:t>
            </a:r>
          </a:p>
        </p:txBody>
      </p:sp>
      <p:pic>
        <p:nvPicPr>
          <p:cNvPr id="5" name="Picture 4" descr="A close-up of a baby&#10;&#10;AI-generated content may be incorrect.">
            <a:extLst>
              <a:ext uri="{FF2B5EF4-FFF2-40B4-BE49-F238E27FC236}">
                <a16:creationId xmlns:a16="http://schemas.microsoft.com/office/drawing/2014/main" id="{9365A8AC-9BF1-50EE-1664-0184CCCB8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1723" y="1845734"/>
            <a:ext cx="3962953" cy="1438476"/>
          </a:xfrm>
          <a:prstGeom prst="rect">
            <a:avLst/>
          </a:prstGeom>
        </p:spPr>
      </p:pic>
      <p:pic>
        <p:nvPicPr>
          <p:cNvPr id="7" name="Picture 6" descr="A close-up of a person and a child&#10;&#10;AI-generated content may be incorrect.">
            <a:extLst>
              <a:ext uri="{FF2B5EF4-FFF2-40B4-BE49-F238E27FC236}">
                <a16:creationId xmlns:a16="http://schemas.microsoft.com/office/drawing/2014/main" id="{F455C3CF-2AB3-F209-66E2-2C1B87BBF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8721" y="3429000"/>
            <a:ext cx="5048955" cy="147658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37CD350-2C20-65AA-D2BF-CCB31D381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05F1F-A983-41BE-AD15-88752DBEB0A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59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Train and Test Data Distribution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03567"/>
            <a:ext cx="4321764" cy="3113564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5302612" y="2403567"/>
            <a:ext cx="5239113" cy="31135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 flipH="1">
            <a:off x="1626325" y="1863465"/>
            <a:ext cx="3389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Train data count - 28709</a:t>
            </a:r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 flipH="1">
            <a:off x="6494417" y="1863465"/>
            <a:ext cx="3389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Test data count - 7178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FA88BF-7E39-E633-4E3E-EF63CFBA4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05F1F-A983-41BE-AD15-88752DBEB0A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229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Images:</a:t>
            </a:r>
          </a:p>
          <a:p>
            <a:pPr lvl="1"/>
            <a:r>
              <a:rPr lang="en-GB" dirty="0"/>
              <a:t>Converted to grayscale</a:t>
            </a:r>
          </a:p>
          <a:p>
            <a:pPr lvl="1"/>
            <a:r>
              <a:rPr lang="en-GB" dirty="0"/>
              <a:t>Resized to 48 × 48</a:t>
            </a:r>
          </a:p>
          <a:p>
            <a:pPr marL="0" indent="0">
              <a:buNone/>
            </a:pPr>
            <a:r>
              <a:rPr lang="en-GB" dirty="0"/>
              <a:t>Transformed into:</a:t>
            </a:r>
          </a:p>
          <a:p>
            <a:pPr lvl="1"/>
            <a:r>
              <a:rPr lang="en-GB" dirty="0"/>
              <a:t>Tensors</a:t>
            </a:r>
          </a:p>
          <a:p>
            <a:pPr lvl="1"/>
            <a:r>
              <a:rPr lang="en-GB" dirty="0"/>
              <a:t>Normalized values</a:t>
            </a:r>
          </a:p>
          <a:p>
            <a:pPr marL="0" indent="0">
              <a:buNone/>
            </a:pPr>
            <a:r>
              <a:rPr lang="en-GB" dirty="0"/>
              <a:t>Purpose:</a:t>
            </a:r>
          </a:p>
          <a:p>
            <a:pPr lvl="1"/>
            <a:r>
              <a:rPr lang="en-GB" dirty="0"/>
              <a:t>Ensure uniform input</a:t>
            </a:r>
          </a:p>
          <a:p>
            <a:pPr lvl="1"/>
            <a:r>
              <a:rPr lang="en-GB" dirty="0"/>
              <a:t>Improve model performance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01E832-1B42-1A77-6A97-06FF33C9B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05F1F-A983-41BE-AD15-88752DBEB0A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208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Two main models used:</a:t>
            </a:r>
          </a:p>
          <a:p>
            <a:pPr lvl="1"/>
            <a:r>
              <a:rPr lang="en-US" dirty="0"/>
              <a:t>CNN for emotion classification</a:t>
            </a:r>
          </a:p>
          <a:p>
            <a:pPr lvl="1"/>
            <a:r>
              <a:rPr lang="en-US" dirty="0"/>
              <a:t>YOLOv8n for real time face detection</a:t>
            </a:r>
          </a:p>
          <a:p>
            <a:pPr marL="0" indent="0">
              <a:buNone/>
            </a:pPr>
            <a:r>
              <a:rPr lang="en-US" dirty="0"/>
              <a:t>YOLOv8n chosen because:</a:t>
            </a:r>
          </a:p>
          <a:p>
            <a:pPr lvl="1"/>
            <a:r>
              <a:rPr lang="en-US" dirty="0"/>
              <a:t>Lightweight</a:t>
            </a:r>
          </a:p>
          <a:p>
            <a:pPr lvl="1"/>
            <a:r>
              <a:rPr lang="en-US" dirty="0"/>
              <a:t>Fast processing</a:t>
            </a:r>
          </a:p>
          <a:p>
            <a:pPr lvl="1"/>
            <a:r>
              <a:rPr lang="en-US" dirty="0"/>
              <a:t>Suitable for webcam based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2FFDF-D2AC-EE40-A994-8204D47EC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05F1F-A983-41BE-AD15-88752DBEB0A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734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CNN Architecture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2857" y="2011680"/>
            <a:ext cx="6667316" cy="415222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76ECE2-91AE-99B0-A537-F2992DDB7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05F1F-A983-41BE-AD15-88752DBEB0A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046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10 experiments conducted</a:t>
            </a:r>
          </a:p>
          <a:p>
            <a:r>
              <a:rPr lang="en-GB" dirty="0"/>
              <a:t>Different combinations of:</a:t>
            </a:r>
          </a:p>
          <a:p>
            <a:pPr lvl="1"/>
            <a:r>
              <a:rPr lang="en-GB" dirty="0" err="1"/>
              <a:t>IoU</a:t>
            </a:r>
            <a:r>
              <a:rPr lang="en-GB" dirty="0"/>
              <a:t> thresholds: 0.3, 0.4, 0.5, 0.6</a:t>
            </a:r>
          </a:p>
          <a:p>
            <a:pPr lvl="1"/>
            <a:r>
              <a:rPr lang="en-GB" dirty="0"/>
              <a:t>Confidence thresholds: 0.2 - 0.7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4280" y="4134704"/>
            <a:ext cx="9809480" cy="104731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0D637C-03C9-62C2-39F5-632841F7D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05F1F-A983-41BE-AD15-88752DBEB0A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70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Demonstration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6135" y="1866922"/>
            <a:ext cx="2241957" cy="198516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237" y="1866922"/>
            <a:ext cx="2147072" cy="199439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4524" y="1854281"/>
            <a:ext cx="2086112" cy="20104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6134" y="3981653"/>
            <a:ext cx="2241957" cy="21349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3237" y="3990875"/>
            <a:ext cx="2147072" cy="21349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6398" y="3990875"/>
            <a:ext cx="2094238" cy="220027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E01C9-D6F0-B568-669C-4CD478C1B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05F1F-A983-41BE-AD15-88752DBEB0A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055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Detects face in 8 out of 10 experiments</a:t>
            </a:r>
          </a:p>
          <a:p>
            <a:pPr marL="0" indent="0">
              <a:buNone/>
            </a:pPr>
            <a:r>
              <a:rPr lang="en-GB" dirty="0"/>
              <a:t>Average confidence score:</a:t>
            </a:r>
          </a:p>
          <a:p>
            <a:pPr lvl="1"/>
            <a:r>
              <a:rPr lang="en-GB" dirty="0"/>
              <a:t>Between 0.71 - 0.79</a:t>
            </a:r>
          </a:p>
          <a:p>
            <a:pPr marL="0" indent="0">
              <a:buNone/>
            </a:pPr>
            <a:r>
              <a:rPr lang="en-GB" dirty="0"/>
              <a:t>Emotion consistency:</a:t>
            </a:r>
          </a:p>
          <a:p>
            <a:pPr lvl="1"/>
            <a:r>
              <a:rPr lang="en-GB" dirty="0"/>
              <a:t>Ranged from 0.43 - 0.97</a:t>
            </a:r>
          </a:p>
          <a:p>
            <a:pPr marL="0" indent="0">
              <a:buNone/>
            </a:pPr>
            <a:r>
              <a:rPr lang="en-GB" dirty="0"/>
              <a:t>Best performance observed with:</a:t>
            </a:r>
          </a:p>
          <a:p>
            <a:pPr lvl="1"/>
            <a:r>
              <a:rPr lang="en-GB" dirty="0"/>
              <a:t>Balanced </a:t>
            </a:r>
            <a:r>
              <a:rPr lang="en-GB" dirty="0" err="1"/>
              <a:t>IoU</a:t>
            </a:r>
            <a:r>
              <a:rPr lang="en-GB" dirty="0"/>
              <a:t> &amp; confidence thresholds</a:t>
            </a:r>
            <a:endParaRPr lang="en-US" dirty="0"/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B41B91-C704-F24C-F299-DF1E92253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05F1F-A983-41BE-AD15-88752DBEB0A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991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28DA3-22FB-43DE-C276-7871A52BF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19A1A-F588-44AA-B571-AF6FCA9D8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64683"/>
            <a:ext cx="10058400" cy="739557"/>
          </a:xfrm>
        </p:spPr>
        <p:txBody>
          <a:bodyPr/>
          <a:lstStyle/>
          <a:p>
            <a:r>
              <a:rPr lang="en-GB" dirty="0"/>
              <a:t>Experiment Overview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AD7244A-4737-21F7-08AE-1E64287766E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0919" y="3127227"/>
            <a:ext cx="6883401" cy="3182133"/>
          </a:xfrm>
          <a:prstGeom prst="rect">
            <a:avLst/>
          </a:prstGeom>
        </p:spPr>
      </p:pic>
      <p:pic>
        <p:nvPicPr>
          <p:cNvPr id="6" name="Picture 5" descr="A graph of blue rectangular objects&#10;&#10;AI-generated content may be incorrect.">
            <a:extLst>
              <a:ext uri="{FF2B5EF4-FFF2-40B4-BE49-F238E27FC236}">
                <a16:creationId xmlns:a16="http://schemas.microsoft.com/office/drawing/2014/main" id="{DA5BF9A5-710F-1C9A-DA16-29666C41E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367" y="762649"/>
            <a:ext cx="5090161" cy="2364578"/>
          </a:xfrm>
          <a:prstGeom prst="rect">
            <a:avLst/>
          </a:prstGeom>
        </p:spPr>
      </p:pic>
      <p:pic>
        <p:nvPicPr>
          <p:cNvPr id="8" name="Picture 7" descr="A graph of a graph&#10;&#10;AI-generated content may be incorrect.">
            <a:extLst>
              <a:ext uri="{FF2B5EF4-FFF2-40B4-BE49-F238E27FC236}">
                <a16:creationId xmlns:a16="http://schemas.microsoft.com/office/drawing/2014/main" id="{FC4E191B-7BBB-0D81-EECF-9430B1920C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1841" y="762649"/>
            <a:ext cx="5702672" cy="2364579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BF2A31-D7F9-AA6E-23B2-2269724BA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05F1F-A983-41BE-AD15-88752DBEB0A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3859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GB" dirty="0"/>
              <a:t> The experiments demonstrate that face detection performs reliably across varying confidence               and </a:t>
            </a:r>
            <a:r>
              <a:rPr lang="en-GB" dirty="0" err="1"/>
              <a:t>IoU</a:t>
            </a:r>
            <a:r>
              <a:rPr lang="en-GB" dirty="0"/>
              <a:t> thresholds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dirty="0"/>
              <a:t> Detection rates remained consistently near 1.0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dirty="0"/>
              <a:t> Confidence scores stayed stable between 0.72 - 0.75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dirty="0"/>
              <a:t> Emotion consistency showed greater sensitivity to parameter changes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dirty="0"/>
              <a:t> Mid range thresholds (Confidence 0.4 - 0.6, </a:t>
            </a:r>
            <a:r>
              <a:rPr lang="en-GB" dirty="0" err="1"/>
              <a:t>IoU</a:t>
            </a:r>
            <a:r>
              <a:rPr lang="en-GB" dirty="0"/>
              <a:t> 0.5) produced the most reliable and stable emotion predictions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53A19-2BB9-89F6-0938-EB0328674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05F1F-A983-41BE-AD15-88752DBEB0A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096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Improve generalization by:</a:t>
            </a:r>
          </a:p>
          <a:p>
            <a:pPr lvl="1"/>
            <a:r>
              <a:rPr lang="en-GB" dirty="0"/>
              <a:t>Expanding the dataset</a:t>
            </a:r>
          </a:p>
          <a:p>
            <a:pPr marL="0" indent="0">
              <a:buNone/>
            </a:pPr>
            <a:r>
              <a:rPr lang="en-GB" dirty="0"/>
              <a:t>Explore advanced architectures, such as:</a:t>
            </a:r>
          </a:p>
          <a:p>
            <a:pPr lvl="1"/>
            <a:r>
              <a:rPr lang="en-GB" dirty="0"/>
              <a:t>Vision Transformers</a:t>
            </a:r>
          </a:p>
          <a:p>
            <a:pPr lvl="1"/>
            <a:r>
              <a:rPr lang="en-GB" dirty="0"/>
              <a:t>Hybrid CNN Transformer models</a:t>
            </a:r>
          </a:p>
          <a:p>
            <a:pPr marL="0" indent="0">
              <a:buNone/>
            </a:pPr>
            <a:r>
              <a:rPr lang="en-GB" dirty="0"/>
              <a:t>Aim to achieve enhanced emotion recognition performance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41B6E3-D757-54F8-DA1B-1694F79AE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05F1F-A983-41BE-AD15-88752DBEB0A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1653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References</a:t>
            </a:r>
            <a:r>
              <a:rPr lang="en-CA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630989" cy="4958305"/>
          </a:xfrm>
        </p:spPr>
        <p:txBody>
          <a:bodyPr>
            <a:noAutofit/>
          </a:bodyPr>
          <a:lstStyle/>
          <a:p>
            <a:r>
              <a:rPr lang="en-US" sz="1800" dirty="0"/>
              <a:t>M. </a:t>
            </a:r>
            <a:r>
              <a:rPr lang="en-US" sz="1800" dirty="0" err="1"/>
              <a:t>Tanweer</a:t>
            </a:r>
            <a:r>
              <a:rPr lang="en-US" sz="1800" dirty="0"/>
              <a:t>, M. </a:t>
            </a:r>
            <a:r>
              <a:rPr lang="en-US" sz="1800" dirty="0" err="1"/>
              <a:t>Tanveer</a:t>
            </a:r>
            <a:r>
              <a:rPr lang="en-US" sz="1800" dirty="0"/>
              <a:t>, A. Mayo, Q. Ain, and J. Ahmed, “Real-Time Intelligent Facial Expression Recognition System,” </a:t>
            </a:r>
            <a:r>
              <a:rPr lang="en-US" sz="1800" i="1" dirty="0"/>
              <a:t>J. </a:t>
            </a:r>
            <a:r>
              <a:rPr lang="en-US" sz="1800" i="1" dirty="0" err="1"/>
              <a:t>Indep</a:t>
            </a:r>
            <a:r>
              <a:rPr lang="en-US" sz="1800" i="1" dirty="0"/>
              <a:t>. Stud. Res. </a:t>
            </a:r>
            <a:r>
              <a:rPr lang="en-US" sz="1800" i="1" dirty="0" err="1"/>
              <a:t>Comput</a:t>
            </a:r>
            <a:r>
              <a:rPr lang="en-US" sz="1800" i="1" dirty="0"/>
              <a:t>.</a:t>
            </a:r>
            <a:r>
              <a:rPr lang="en-US" sz="1800" dirty="0"/>
              <a:t>, vol. 20, Dec. 2022, </a:t>
            </a:r>
            <a:r>
              <a:rPr lang="en-US" sz="1800" dirty="0" err="1"/>
              <a:t>doi</a:t>
            </a:r>
            <a:r>
              <a:rPr lang="en-US" sz="1800" dirty="0"/>
              <a:t>: 10.31645/JISRC.22.20.2.4.</a:t>
            </a:r>
          </a:p>
          <a:p>
            <a:r>
              <a:rPr lang="en-US" sz="1800" dirty="0"/>
              <a:t>A. </a:t>
            </a:r>
            <a:r>
              <a:rPr lang="en-US" sz="1800" dirty="0" err="1"/>
              <a:t>Alshammari</a:t>
            </a:r>
            <a:r>
              <a:rPr lang="en-US" sz="1800" dirty="0"/>
              <a:t> and M. E. </a:t>
            </a:r>
            <a:r>
              <a:rPr lang="en-US" sz="1800" dirty="0" err="1"/>
              <a:t>Alshammari</a:t>
            </a:r>
            <a:r>
              <a:rPr lang="en-US" sz="1800" dirty="0"/>
              <a:t>, “Emotional Facial Expression Detection using YOLOv8,” </a:t>
            </a:r>
            <a:r>
              <a:rPr lang="en-US" sz="1800" i="1" dirty="0"/>
              <a:t>Eng. Technol. Appl. Sci. Res.</a:t>
            </a:r>
            <a:r>
              <a:rPr lang="en-US" sz="1800" dirty="0"/>
              <a:t>, vol. 14, no. 5, pp. 16619–16623, Oct. 2024, </a:t>
            </a:r>
            <a:r>
              <a:rPr lang="en-US" sz="1800" dirty="0" err="1"/>
              <a:t>doi</a:t>
            </a:r>
            <a:r>
              <a:rPr lang="en-US" sz="1800" dirty="0"/>
              <a:t>: 10.48084/etasr.8433.</a:t>
            </a:r>
          </a:p>
          <a:p>
            <a:r>
              <a:rPr lang="en-US" sz="1800" dirty="0"/>
              <a:t>M. M. A. </a:t>
            </a:r>
            <a:r>
              <a:rPr lang="en-US" sz="1800" dirty="0" err="1"/>
              <a:t>Parambil</a:t>
            </a:r>
            <a:r>
              <a:rPr lang="en-US" sz="1800" dirty="0"/>
              <a:t> </a:t>
            </a:r>
            <a:r>
              <a:rPr lang="en-US" sz="1800" i="1" dirty="0"/>
              <a:t>et al.</a:t>
            </a:r>
            <a:r>
              <a:rPr lang="en-US" sz="1800" dirty="0"/>
              <a:t>, “Navigating the YOLO Landscape: A Comparative Study of Object Detection Models for Emotion Recognition,” </a:t>
            </a:r>
            <a:r>
              <a:rPr lang="en-US" sz="1800" i="1" dirty="0"/>
              <a:t>IEEE Access</a:t>
            </a:r>
            <a:r>
              <a:rPr lang="en-US" sz="1800" dirty="0"/>
              <a:t>, vol. 12, pp. 109427–109442, 2024, </a:t>
            </a:r>
            <a:r>
              <a:rPr lang="en-US" sz="1800" dirty="0" err="1"/>
              <a:t>doi</a:t>
            </a:r>
            <a:r>
              <a:rPr lang="en-US" sz="1800" dirty="0"/>
              <a:t>: 10.1109/ACCESS.2024.3439346.</a:t>
            </a:r>
          </a:p>
          <a:p>
            <a:r>
              <a:rPr lang="en-US" sz="1800" dirty="0"/>
              <a:t>S. Arya, “Measuring Success: Comprehensive Evaluation Metrics for Object Detection Models,” Analytics </a:t>
            </a:r>
            <a:r>
              <a:rPr lang="en-US" sz="1800" dirty="0" err="1"/>
              <a:t>Vidhya</a:t>
            </a:r>
            <a:r>
              <a:rPr lang="en-US" sz="1800" dirty="0"/>
              <a:t>. Accessed: Dec. 08, 2025. [Online]. Available: https://www.analyticsvidhya.com/blog/2024/02/evaluation-matrix-for-object-detection-using-iou-and-map/</a:t>
            </a:r>
          </a:p>
          <a:p>
            <a:r>
              <a:rPr lang="en-US" sz="1800" dirty="0"/>
              <a:t>“FER-2013.” Accessed: Dec. 08, 2025. [Online]. Available: https://www.kaggle.com/datasets/msambare/fer2013</a:t>
            </a:r>
          </a:p>
          <a:p>
            <a:r>
              <a:rPr lang="en-US" sz="1800" dirty="0" err="1"/>
              <a:t>Ultralytics</a:t>
            </a:r>
            <a:r>
              <a:rPr lang="en-US" sz="1800" dirty="0"/>
              <a:t>, “Explore </a:t>
            </a:r>
            <a:r>
              <a:rPr lang="en-US" sz="1800" dirty="0" err="1"/>
              <a:t>Ultralytics</a:t>
            </a:r>
            <a:r>
              <a:rPr lang="en-US" sz="1800" dirty="0"/>
              <a:t> YOLOv8.” Accessed: Dec. 09, 2025. [Online]. Available: https://docs.ultralytics.com/models/yolov8/</a:t>
            </a:r>
          </a:p>
          <a:p>
            <a:r>
              <a:rPr lang="en-US" sz="1800" dirty="0"/>
              <a:t>A. </a:t>
            </a:r>
            <a:r>
              <a:rPr lang="en-US" sz="1800" dirty="0" err="1"/>
              <a:t>Dosovitskiy</a:t>
            </a:r>
            <a:r>
              <a:rPr lang="en-US" sz="1800" dirty="0"/>
              <a:t> </a:t>
            </a:r>
            <a:r>
              <a:rPr lang="en-US" sz="1800" i="1" dirty="0"/>
              <a:t>et al.</a:t>
            </a:r>
            <a:r>
              <a:rPr lang="en-US" sz="1800" dirty="0"/>
              <a:t>, “An Image is Worth 16x16 Words: Transformers for Image Recognition at Scale,” June 03, 2021, </a:t>
            </a:r>
            <a:r>
              <a:rPr lang="en-US" sz="1800" i="1" dirty="0" err="1"/>
              <a:t>arXiv</a:t>
            </a:r>
            <a:r>
              <a:rPr lang="en-US" sz="1800" dirty="0"/>
              <a:t>: arXiv:2010.11929. </a:t>
            </a:r>
            <a:r>
              <a:rPr lang="en-US" sz="1800" dirty="0" err="1"/>
              <a:t>doi</a:t>
            </a:r>
            <a:r>
              <a:rPr lang="en-US" sz="1800" dirty="0"/>
              <a:t>: 10.48550/arXiv.2010.11929.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9B11F-0F3C-1047-6D9C-3B9B83CE0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05F1F-A983-41BE-AD15-88752DBEB0A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047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6470" y="1072244"/>
            <a:ext cx="10071462" cy="523391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47B45D-CECF-4353-7FA0-A5AFDCF85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05F1F-A983-41BE-AD15-88752DBEB0A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96592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324</TotalTime>
  <Words>757</Words>
  <Application>Microsoft Office PowerPoint</Application>
  <PresentationFormat>Widescreen</PresentationFormat>
  <Paragraphs>112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Calibri</vt:lpstr>
      <vt:lpstr>Calibri Light</vt:lpstr>
      <vt:lpstr>Courier New</vt:lpstr>
      <vt:lpstr>Retrospect</vt:lpstr>
      <vt:lpstr>Real Time Human Facial Emotion Recognition Using YOLO With Confidence and IoU Threshold Optimization</vt:lpstr>
      <vt:lpstr>Introduction</vt:lpstr>
      <vt:lpstr>Objectives</vt:lpstr>
      <vt:lpstr>Literature Review</vt:lpstr>
      <vt:lpstr>Methodology</vt:lpstr>
      <vt:lpstr>Dataset (FER-2013)</vt:lpstr>
      <vt:lpstr>Train and Test Data Distribution</vt:lpstr>
      <vt:lpstr>Data Preprocessing</vt:lpstr>
      <vt:lpstr>Model Architecture Overview</vt:lpstr>
      <vt:lpstr>CNN Architecture</vt:lpstr>
      <vt:lpstr>Experiments Setup</vt:lpstr>
      <vt:lpstr>System Demonstration</vt:lpstr>
      <vt:lpstr>Results</vt:lpstr>
      <vt:lpstr>Experiment Overview</vt:lpstr>
      <vt:lpstr>Conclusion</vt:lpstr>
      <vt:lpstr>Future Work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Human Facial Emotion Recognition Using YOLO With Confidence and IoU Threshold Optimization</dc:title>
  <dc:creator>INOVA</dc:creator>
  <cp:lastModifiedBy>Rahul Saini</cp:lastModifiedBy>
  <cp:revision>46</cp:revision>
  <dcterms:created xsi:type="dcterms:W3CDTF">2025-12-09T17:49:14Z</dcterms:created>
  <dcterms:modified xsi:type="dcterms:W3CDTF">2025-12-09T23:16:47Z</dcterms:modified>
</cp:coreProperties>
</file>